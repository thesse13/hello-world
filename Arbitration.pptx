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61" r:id="rId3"/>
    <p:sldId id="266" r:id="rId4"/>
    <p:sldId id="267" r:id="rId5"/>
    <p:sldId id="268" r:id="rId6"/>
    <p:sldId id="269" r:id="rId7"/>
    <p:sldId id="270" r:id="rId8"/>
    <p:sldId id="271" r:id="rId9"/>
    <p:sldId id="258" r:id="rId10"/>
    <p:sldId id="27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91D73E-5F6D-871D-EB34-FA1C170A9366}" v="52" dt="2026-02-22T18:53:47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0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D110793-AB0F-4CEC-83B6-DCCA3534B17F}" type="doc">
      <dgm:prSet loTypeId="urn:microsoft.com/office/officeart/2005/8/layout/hierarchy1" loCatId="hierarchy" qsTypeId="urn:microsoft.com/office/officeart/2005/8/quickstyle/simple1" qsCatId="simple" csTypeId="urn:microsoft.com/office/officeart/2005/8/colors/accent0_1" csCatId="mainScheme" phldr="1"/>
      <dgm:spPr/>
    </dgm:pt>
    <dgm:pt modelId="{E084DC0F-615E-4F1E-B35D-BE6433FA0341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Justin Bour ($3.4M)</a:t>
          </a:r>
          <a:endParaRPr lang="en-US"/>
        </a:p>
      </dgm:t>
    </dgm:pt>
    <dgm:pt modelId="{755ACB37-00EC-4AF5-9CB5-029BB96D3918}" type="parTrans" cxnId="{BB265724-21B3-4E0B-807B-F61870584ABA}">
      <dgm:prSet/>
      <dgm:spPr/>
    </dgm:pt>
    <dgm:pt modelId="{2495F60D-1D59-425D-97A0-BF52D6F99908}" type="sibTrans" cxnId="{BB265724-21B3-4E0B-807B-F61870584ABA}">
      <dgm:prSet/>
      <dgm:spPr/>
    </dgm:pt>
    <dgm:pt modelId="{B1334BE1-612C-4842-9316-D894176EA4B8}">
      <dgm:prSet phldr="0"/>
      <dgm:spPr/>
      <dgm:t>
        <a:bodyPr/>
        <a:lstStyle/>
        <a:p>
          <a:pPr rtl="0"/>
          <a:r>
            <a:rPr lang="en-US" sz="1000" dirty="0">
              <a:latin typeface="Aptos Display" panose="02110004020202020204"/>
            </a:rPr>
            <a:t>Isaac Paredes (?)</a:t>
          </a:r>
        </a:p>
      </dgm:t>
    </dgm:pt>
    <dgm:pt modelId="{5D2C0FCC-A017-40CF-8A7C-9FF2E6958167}" type="parTrans" cxnId="{AEFC2E0A-7A3F-4C26-8B04-20E48A76CA9E}">
      <dgm:prSet/>
      <dgm:spPr/>
    </dgm:pt>
    <dgm:pt modelId="{1D9E8B96-67DE-4520-94C1-D0DE25B77C2E}" type="sibTrans" cxnId="{AEFC2E0A-7A3F-4C26-8B04-20E48A76CA9E}">
      <dgm:prSet/>
      <dgm:spPr/>
    </dgm:pt>
    <dgm:pt modelId="{8D96DD06-645E-49BE-BD08-AAD8AFF3DAED}">
      <dgm:prSet phldr="0"/>
      <dgm:spPr/>
      <dgm:t>
        <a:bodyPr/>
        <a:lstStyle/>
        <a:p>
          <a:pPr rtl="0"/>
          <a:r>
            <a:rPr lang="en-US" sz="1400" dirty="0">
              <a:latin typeface="Aptos Display" panose="02110004020202020204"/>
            </a:rPr>
            <a:t>Jeimer Candelario ($2.85M)</a:t>
          </a:r>
        </a:p>
      </dgm:t>
    </dgm:pt>
    <dgm:pt modelId="{DD348C1B-3A93-4038-8C38-BF53E46E7430}" type="parTrans" cxnId="{0DC47F04-38B8-4986-9151-4986C8F6ED6F}">
      <dgm:prSet/>
      <dgm:spPr/>
    </dgm:pt>
    <dgm:pt modelId="{3043494F-F030-45BB-BA87-6E096F02505E}" type="sibTrans" cxnId="{0DC47F04-38B8-4986-9151-4986C8F6ED6F}">
      <dgm:prSet/>
      <dgm:spPr/>
    </dgm:pt>
    <dgm:pt modelId="{4BD7E937-FDE3-4B41-8311-9DF2735297B8}">
      <dgm:prSet phldr="0"/>
      <dgm:spPr/>
      <dgm:t>
        <a:bodyPr/>
        <a:lstStyle/>
        <a:p>
          <a:pPr rtl="0"/>
          <a:r>
            <a:rPr lang="en-US" sz="800" dirty="0">
              <a:latin typeface="Aptos Display" panose="02110004020202020204"/>
            </a:rPr>
            <a:t>Yandy Diaz ($2.8M)</a:t>
          </a:r>
        </a:p>
      </dgm:t>
    </dgm:pt>
    <dgm:pt modelId="{588BD537-45B2-489D-B684-36353E3EFE09}" type="parTrans" cxnId="{4A70E9D4-5476-40D0-B6B1-1931068C4004}">
      <dgm:prSet/>
      <dgm:spPr/>
    </dgm:pt>
    <dgm:pt modelId="{C52A7B8B-B742-45DB-A50D-78623C9B68BF}" type="sibTrans" cxnId="{4A70E9D4-5476-40D0-B6B1-1931068C4004}">
      <dgm:prSet/>
      <dgm:spPr/>
    </dgm:pt>
    <dgm:pt modelId="{BD5B8506-558D-4126-8035-476160CE7A24}" type="pres">
      <dgm:prSet presAssocID="{2D110793-AB0F-4CEC-83B6-DCCA3534B17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74D2352-F008-4D76-91EB-5878BC99DDD0}" type="pres">
      <dgm:prSet presAssocID="{E084DC0F-615E-4F1E-B35D-BE6433FA0341}" presName="hierRoot1" presStyleCnt="0"/>
      <dgm:spPr/>
    </dgm:pt>
    <dgm:pt modelId="{432E39DF-FF6C-474A-88A0-731A94F8FF1B}" type="pres">
      <dgm:prSet presAssocID="{E084DC0F-615E-4F1E-B35D-BE6433FA0341}" presName="composite" presStyleCnt="0"/>
      <dgm:spPr/>
    </dgm:pt>
    <dgm:pt modelId="{CD6FDF31-9511-4A2B-803D-F4CA2E566168}" type="pres">
      <dgm:prSet presAssocID="{E084DC0F-615E-4F1E-B35D-BE6433FA0341}" presName="background" presStyleLbl="node0" presStyleIdx="0" presStyleCnt="1"/>
      <dgm:spPr/>
    </dgm:pt>
    <dgm:pt modelId="{14D59AB8-B34E-4EFF-9580-1E18E67C35E0}" type="pres">
      <dgm:prSet presAssocID="{E084DC0F-615E-4F1E-B35D-BE6433FA0341}" presName="text" presStyleLbl="fgAcc0" presStyleIdx="0" presStyleCnt="1">
        <dgm:presLayoutVars>
          <dgm:chPref val="3"/>
        </dgm:presLayoutVars>
      </dgm:prSet>
      <dgm:spPr/>
    </dgm:pt>
    <dgm:pt modelId="{E2AE5C13-9338-4713-8B39-EFCDD83C8BFF}" type="pres">
      <dgm:prSet presAssocID="{E084DC0F-615E-4F1E-B35D-BE6433FA0341}" presName="hierChild2" presStyleCnt="0"/>
      <dgm:spPr/>
    </dgm:pt>
    <dgm:pt modelId="{38D33186-8EBD-404B-B86D-92EC55D05F20}" type="pres">
      <dgm:prSet presAssocID="{DD348C1B-3A93-4038-8C38-BF53E46E7430}" presName="Name10" presStyleLbl="parChTrans1D2" presStyleIdx="0" presStyleCnt="1"/>
      <dgm:spPr/>
    </dgm:pt>
    <dgm:pt modelId="{F305005D-B0A9-462B-A0B9-439C72E5875C}" type="pres">
      <dgm:prSet presAssocID="{8D96DD06-645E-49BE-BD08-AAD8AFF3DAED}" presName="hierRoot2" presStyleCnt="0"/>
      <dgm:spPr/>
    </dgm:pt>
    <dgm:pt modelId="{BE0895AF-2F3E-4CFE-B82C-4001DEF12554}" type="pres">
      <dgm:prSet presAssocID="{8D96DD06-645E-49BE-BD08-AAD8AFF3DAED}" presName="composite2" presStyleCnt="0"/>
      <dgm:spPr/>
    </dgm:pt>
    <dgm:pt modelId="{7F0A998D-8490-4CD4-8B8A-58096359B10A}" type="pres">
      <dgm:prSet presAssocID="{8D96DD06-645E-49BE-BD08-AAD8AFF3DAED}" presName="background2" presStyleLbl="node2" presStyleIdx="0" presStyleCnt="1"/>
      <dgm:spPr/>
    </dgm:pt>
    <dgm:pt modelId="{17426872-5C34-437E-8A1D-50AD5253816E}" type="pres">
      <dgm:prSet presAssocID="{8D96DD06-645E-49BE-BD08-AAD8AFF3DAED}" presName="text2" presStyleLbl="fgAcc2" presStyleIdx="0" presStyleCnt="1">
        <dgm:presLayoutVars>
          <dgm:chPref val="3"/>
        </dgm:presLayoutVars>
      </dgm:prSet>
      <dgm:spPr/>
    </dgm:pt>
    <dgm:pt modelId="{9173ADC1-E25F-444C-8C0D-DC26B01B2B7F}" type="pres">
      <dgm:prSet presAssocID="{8D96DD06-645E-49BE-BD08-AAD8AFF3DAED}" presName="hierChild3" presStyleCnt="0"/>
      <dgm:spPr/>
    </dgm:pt>
    <dgm:pt modelId="{29D837C3-F89A-4B32-A505-7E8462BFC420}" type="pres">
      <dgm:prSet presAssocID="{5D2C0FCC-A017-40CF-8A7C-9FF2E6958167}" presName="Name17" presStyleLbl="parChTrans1D3" presStyleIdx="0" presStyleCnt="1"/>
      <dgm:spPr/>
    </dgm:pt>
    <dgm:pt modelId="{055CB06C-2C4D-44C3-99DC-FC51A1D84ACC}" type="pres">
      <dgm:prSet presAssocID="{B1334BE1-612C-4842-9316-D894176EA4B8}" presName="hierRoot3" presStyleCnt="0"/>
      <dgm:spPr/>
    </dgm:pt>
    <dgm:pt modelId="{43152EEA-9A5C-470D-B728-94879B32D453}" type="pres">
      <dgm:prSet presAssocID="{B1334BE1-612C-4842-9316-D894176EA4B8}" presName="composite3" presStyleCnt="0"/>
      <dgm:spPr/>
    </dgm:pt>
    <dgm:pt modelId="{46AE696C-59B3-4439-BBEE-2328FF554DB1}" type="pres">
      <dgm:prSet presAssocID="{B1334BE1-612C-4842-9316-D894176EA4B8}" presName="background3" presStyleLbl="node3" presStyleIdx="0" presStyleCnt="1"/>
      <dgm:spPr/>
    </dgm:pt>
    <dgm:pt modelId="{DEFDCFBA-F00B-47C5-ADAA-AA3569056087}" type="pres">
      <dgm:prSet presAssocID="{B1334BE1-612C-4842-9316-D894176EA4B8}" presName="text3" presStyleLbl="fgAcc3" presStyleIdx="0" presStyleCnt="1">
        <dgm:presLayoutVars>
          <dgm:chPref val="3"/>
        </dgm:presLayoutVars>
      </dgm:prSet>
      <dgm:spPr/>
    </dgm:pt>
    <dgm:pt modelId="{2A9EF5FB-0BBD-4EE1-A90D-5FBD3D908181}" type="pres">
      <dgm:prSet presAssocID="{B1334BE1-612C-4842-9316-D894176EA4B8}" presName="hierChild4" presStyleCnt="0"/>
      <dgm:spPr/>
    </dgm:pt>
    <dgm:pt modelId="{FEA7C173-7FB4-4C37-AB32-BEA3E272EF90}" type="pres">
      <dgm:prSet presAssocID="{588BD537-45B2-489D-B684-36353E3EFE09}" presName="Name23" presStyleLbl="parChTrans1D4" presStyleIdx="0" presStyleCnt="1"/>
      <dgm:spPr/>
    </dgm:pt>
    <dgm:pt modelId="{C43CDD37-CA90-460E-80B9-2ED459EBF9D2}" type="pres">
      <dgm:prSet presAssocID="{4BD7E937-FDE3-4B41-8311-9DF2735297B8}" presName="hierRoot4" presStyleCnt="0"/>
      <dgm:spPr/>
    </dgm:pt>
    <dgm:pt modelId="{C74BC07E-77C1-4B4E-BD70-02B60C01BDA9}" type="pres">
      <dgm:prSet presAssocID="{4BD7E937-FDE3-4B41-8311-9DF2735297B8}" presName="composite4" presStyleCnt="0"/>
      <dgm:spPr/>
    </dgm:pt>
    <dgm:pt modelId="{F564ECF5-AB47-4E15-8CEB-B44B9BA05818}" type="pres">
      <dgm:prSet presAssocID="{4BD7E937-FDE3-4B41-8311-9DF2735297B8}" presName="background4" presStyleLbl="node4" presStyleIdx="0" presStyleCnt="1"/>
      <dgm:spPr/>
    </dgm:pt>
    <dgm:pt modelId="{ACC91B66-4D30-462E-BAFE-A374ECA3CAF5}" type="pres">
      <dgm:prSet presAssocID="{4BD7E937-FDE3-4B41-8311-9DF2735297B8}" presName="text4" presStyleLbl="fgAcc4" presStyleIdx="0" presStyleCnt="1">
        <dgm:presLayoutVars>
          <dgm:chPref val="3"/>
        </dgm:presLayoutVars>
      </dgm:prSet>
      <dgm:spPr/>
    </dgm:pt>
    <dgm:pt modelId="{AB44C90C-0963-4A91-8520-C3B8A6CB8F46}" type="pres">
      <dgm:prSet presAssocID="{4BD7E937-FDE3-4B41-8311-9DF2735297B8}" presName="hierChild5" presStyleCnt="0"/>
      <dgm:spPr/>
    </dgm:pt>
  </dgm:ptLst>
  <dgm:cxnLst>
    <dgm:cxn modelId="{729E8801-0CEC-415E-8E8D-4A8919098C42}" type="presOf" srcId="{DD348C1B-3A93-4038-8C38-BF53E46E7430}" destId="{38D33186-8EBD-404B-B86D-92EC55D05F20}" srcOrd="0" destOrd="0" presId="urn:microsoft.com/office/officeart/2005/8/layout/hierarchy1"/>
    <dgm:cxn modelId="{0DC47F04-38B8-4986-9151-4986C8F6ED6F}" srcId="{E084DC0F-615E-4F1E-B35D-BE6433FA0341}" destId="{8D96DD06-645E-49BE-BD08-AAD8AFF3DAED}" srcOrd="0" destOrd="0" parTransId="{DD348C1B-3A93-4038-8C38-BF53E46E7430}" sibTransId="{3043494F-F030-45BB-BA87-6E096F02505E}"/>
    <dgm:cxn modelId="{AEFC2E0A-7A3F-4C26-8B04-20E48A76CA9E}" srcId="{8D96DD06-645E-49BE-BD08-AAD8AFF3DAED}" destId="{B1334BE1-612C-4842-9316-D894176EA4B8}" srcOrd="0" destOrd="0" parTransId="{5D2C0FCC-A017-40CF-8A7C-9FF2E6958167}" sibTransId="{1D9E8B96-67DE-4520-94C1-D0DE25B77C2E}"/>
    <dgm:cxn modelId="{BB265724-21B3-4E0B-807B-F61870584ABA}" srcId="{2D110793-AB0F-4CEC-83B6-DCCA3534B17F}" destId="{E084DC0F-615E-4F1E-B35D-BE6433FA0341}" srcOrd="0" destOrd="0" parTransId="{755ACB37-00EC-4AF5-9CB5-029BB96D3918}" sibTransId="{2495F60D-1D59-425D-97A0-BF52D6F99908}"/>
    <dgm:cxn modelId="{20469239-1FAF-4F83-B741-3198A143D3D3}" type="presOf" srcId="{2D110793-AB0F-4CEC-83B6-DCCA3534B17F}" destId="{BD5B8506-558D-4126-8035-476160CE7A24}" srcOrd="0" destOrd="0" presId="urn:microsoft.com/office/officeart/2005/8/layout/hierarchy1"/>
    <dgm:cxn modelId="{BAFCEE7C-4880-460C-9424-BD03B22097E0}" type="presOf" srcId="{E084DC0F-615E-4F1E-B35D-BE6433FA0341}" destId="{14D59AB8-B34E-4EFF-9580-1E18E67C35E0}" srcOrd="0" destOrd="0" presId="urn:microsoft.com/office/officeart/2005/8/layout/hierarchy1"/>
    <dgm:cxn modelId="{9A2D42A0-336E-4EEC-A1D0-524AD253F862}" type="presOf" srcId="{588BD537-45B2-489D-B684-36353E3EFE09}" destId="{FEA7C173-7FB4-4C37-AB32-BEA3E272EF90}" srcOrd="0" destOrd="0" presId="urn:microsoft.com/office/officeart/2005/8/layout/hierarchy1"/>
    <dgm:cxn modelId="{59DE56BE-2515-4EDA-A027-1E57B59C95B7}" type="presOf" srcId="{4BD7E937-FDE3-4B41-8311-9DF2735297B8}" destId="{ACC91B66-4D30-462E-BAFE-A374ECA3CAF5}" srcOrd="0" destOrd="0" presId="urn:microsoft.com/office/officeart/2005/8/layout/hierarchy1"/>
    <dgm:cxn modelId="{4A70E9D4-5476-40D0-B6B1-1931068C4004}" srcId="{B1334BE1-612C-4842-9316-D894176EA4B8}" destId="{4BD7E937-FDE3-4B41-8311-9DF2735297B8}" srcOrd="0" destOrd="0" parTransId="{588BD537-45B2-489D-B684-36353E3EFE09}" sibTransId="{C52A7B8B-B742-45DB-A50D-78623C9B68BF}"/>
    <dgm:cxn modelId="{3DD7FAEB-31A4-470F-8D2A-1A19A0C2913E}" type="presOf" srcId="{8D96DD06-645E-49BE-BD08-AAD8AFF3DAED}" destId="{17426872-5C34-437E-8A1D-50AD5253816E}" srcOrd="0" destOrd="0" presId="urn:microsoft.com/office/officeart/2005/8/layout/hierarchy1"/>
    <dgm:cxn modelId="{08052BED-B933-4B49-A896-935658DA5945}" type="presOf" srcId="{5D2C0FCC-A017-40CF-8A7C-9FF2E6958167}" destId="{29D837C3-F89A-4B32-A505-7E8462BFC420}" srcOrd="0" destOrd="0" presId="urn:microsoft.com/office/officeart/2005/8/layout/hierarchy1"/>
    <dgm:cxn modelId="{D59A0CFD-EE7C-4CAB-8F9B-2B8FFE64EF01}" type="presOf" srcId="{B1334BE1-612C-4842-9316-D894176EA4B8}" destId="{DEFDCFBA-F00B-47C5-ADAA-AA3569056087}" srcOrd="0" destOrd="0" presId="urn:microsoft.com/office/officeart/2005/8/layout/hierarchy1"/>
    <dgm:cxn modelId="{E2ECC101-37FF-4570-BDA6-5F954BFBFEE8}" type="presParOf" srcId="{BD5B8506-558D-4126-8035-476160CE7A24}" destId="{F74D2352-F008-4D76-91EB-5878BC99DDD0}" srcOrd="0" destOrd="0" presId="urn:microsoft.com/office/officeart/2005/8/layout/hierarchy1"/>
    <dgm:cxn modelId="{CBB4DDC3-31E2-4C00-9060-EF362BB23CB6}" type="presParOf" srcId="{F74D2352-F008-4D76-91EB-5878BC99DDD0}" destId="{432E39DF-FF6C-474A-88A0-731A94F8FF1B}" srcOrd="0" destOrd="0" presId="urn:microsoft.com/office/officeart/2005/8/layout/hierarchy1"/>
    <dgm:cxn modelId="{3BF1F831-5FD3-4D59-8426-9C67D9C794A3}" type="presParOf" srcId="{432E39DF-FF6C-474A-88A0-731A94F8FF1B}" destId="{CD6FDF31-9511-4A2B-803D-F4CA2E566168}" srcOrd="0" destOrd="0" presId="urn:microsoft.com/office/officeart/2005/8/layout/hierarchy1"/>
    <dgm:cxn modelId="{4B5C5926-E53C-45F4-9DFC-357A974427EF}" type="presParOf" srcId="{432E39DF-FF6C-474A-88A0-731A94F8FF1B}" destId="{14D59AB8-B34E-4EFF-9580-1E18E67C35E0}" srcOrd="1" destOrd="0" presId="urn:microsoft.com/office/officeart/2005/8/layout/hierarchy1"/>
    <dgm:cxn modelId="{EE448C97-2A87-4F58-913D-513624ECF50C}" type="presParOf" srcId="{F74D2352-F008-4D76-91EB-5878BC99DDD0}" destId="{E2AE5C13-9338-4713-8B39-EFCDD83C8BFF}" srcOrd="1" destOrd="0" presId="urn:microsoft.com/office/officeart/2005/8/layout/hierarchy1"/>
    <dgm:cxn modelId="{2799EE77-7CF8-4B35-9087-98B9EA7C5F18}" type="presParOf" srcId="{E2AE5C13-9338-4713-8B39-EFCDD83C8BFF}" destId="{38D33186-8EBD-404B-B86D-92EC55D05F20}" srcOrd="0" destOrd="0" presId="urn:microsoft.com/office/officeart/2005/8/layout/hierarchy1"/>
    <dgm:cxn modelId="{4F804C74-8E58-4BD8-836F-03D8AE7FAABF}" type="presParOf" srcId="{E2AE5C13-9338-4713-8B39-EFCDD83C8BFF}" destId="{F305005D-B0A9-462B-A0B9-439C72E5875C}" srcOrd="1" destOrd="0" presId="urn:microsoft.com/office/officeart/2005/8/layout/hierarchy1"/>
    <dgm:cxn modelId="{B38862C8-5477-4A0E-8E94-153A2AF6EB3D}" type="presParOf" srcId="{F305005D-B0A9-462B-A0B9-439C72E5875C}" destId="{BE0895AF-2F3E-4CFE-B82C-4001DEF12554}" srcOrd="0" destOrd="0" presId="urn:microsoft.com/office/officeart/2005/8/layout/hierarchy1"/>
    <dgm:cxn modelId="{578FA4A7-2ED2-4A54-970E-4B1EED5DCC2B}" type="presParOf" srcId="{BE0895AF-2F3E-4CFE-B82C-4001DEF12554}" destId="{7F0A998D-8490-4CD4-8B8A-58096359B10A}" srcOrd="0" destOrd="0" presId="urn:microsoft.com/office/officeart/2005/8/layout/hierarchy1"/>
    <dgm:cxn modelId="{AFB1F977-7AA0-439B-8309-58445955BF98}" type="presParOf" srcId="{BE0895AF-2F3E-4CFE-B82C-4001DEF12554}" destId="{17426872-5C34-437E-8A1D-50AD5253816E}" srcOrd="1" destOrd="0" presId="urn:microsoft.com/office/officeart/2005/8/layout/hierarchy1"/>
    <dgm:cxn modelId="{37B0FD07-26AE-4657-B332-6ED6C296E5C2}" type="presParOf" srcId="{F305005D-B0A9-462B-A0B9-439C72E5875C}" destId="{9173ADC1-E25F-444C-8C0D-DC26B01B2B7F}" srcOrd="1" destOrd="0" presId="urn:microsoft.com/office/officeart/2005/8/layout/hierarchy1"/>
    <dgm:cxn modelId="{923FACC9-0DEA-4657-93AE-EF20ED07C382}" type="presParOf" srcId="{9173ADC1-E25F-444C-8C0D-DC26B01B2B7F}" destId="{29D837C3-F89A-4B32-A505-7E8462BFC420}" srcOrd="0" destOrd="0" presId="urn:microsoft.com/office/officeart/2005/8/layout/hierarchy1"/>
    <dgm:cxn modelId="{F2CA8824-BD89-4E6A-8FA3-9EA91D4F2F74}" type="presParOf" srcId="{9173ADC1-E25F-444C-8C0D-DC26B01B2B7F}" destId="{055CB06C-2C4D-44C3-99DC-FC51A1D84ACC}" srcOrd="1" destOrd="0" presId="urn:microsoft.com/office/officeart/2005/8/layout/hierarchy1"/>
    <dgm:cxn modelId="{95382AE2-9840-44C1-A83A-43D954293AF0}" type="presParOf" srcId="{055CB06C-2C4D-44C3-99DC-FC51A1D84ACC}" destId="{43152EEA-9A5C-470D-B728-94879B32D453}" srcOrd="0" destOrd="0" presId="urn:microsoft.com/office/officeart/2005/8/layout/hierarchy1"/>
    <dgm:cxn modelId="{002B7153-EEAF-4E9D-82EB-D1E8C6E34A2D}" type="presParOf" srcId="{43152EEA-9A5C-470D-B728-94879B32D453}" destId="{46AE696C-59B3-4439-BBEE-2328FF554DB1}" srcOrd="0" destOrd="0" presId="urn:microsoft.com/office/officeart/2005/8/layout/hierarchy1"/>
    <dgm:cxn modelId="{109D072A-05A5-417C-B93D-5B47CCE38796}" type="presParOf" srcId="{43152EEA-9A5C-470D-B728-94879B32D453}" destId="{DEFDCFBA-F00B-47C5-ADAA-AA3569056087}" srcOrd="1" destOrd="0" presId="urn:microsoft.com/office/officeart/2005/8/layout/hierarchy1"/>
    <dgm:cxn modelId="{C16C8F81-E494-4AD2-8C96-3C3527BB79FE}" type="presParOf" srcId="{055CB06C-2C4D-44C3-99DC-FC51A1D84ACC}" destId="{2A9EF5FB-0BBD-4EE1-A90D-5FBD3D908181}" srcOrd="1" destOrd="0" presId="urn:microsoft.com/office/officeart/2005/8/layout/hierarchy1"/>
    <dgm:cxn modelId="{551DDED8-1806-40B8-A79E-FECBA4787736}" type="presParOf" srcId="{2A9EF5FB-0BBD-4EE1-A90D-5FBD3D908181}" destId="{FEA7C173-7FB4-4C37-AB32-BEA3E272EF90}" srcOrd="0" destOrd="0" presId="urn:microsoft.com/office/officeart/2005/8/layout/hierarchy1"/>
    <dgm:cxn modelId="{693C89CD-BD21-4AA1-AE3A-CD23E72CFBD7}" type="presParOf" srcId="{2A9EF5FB-0BBD-4EE1-A90D-5FBD3D908181}" destId="{C43CDD37-CA90-460E-80B9-2ED459EBF9D2}" srcOrd="1" destOrd="0" presId="urn:microsoft.com/office/officeart/2005/8/layout/hierarchy1"/>
    <dgm:cxn modelId="{200730B9-36C3-4717-AACE-2A39D3158DB4}" type="presParOf" srcId="{C43CDD37-CA90-460E-80B9-2ED459EBF9D2}" destId="{C74BC07E-77C1-4B4E-BD70-02B60C01BDA9}" srcOrd="0" destOrd="0" presId="urn:microsoft.com/office/officeart/2005/8/layout/hierarchy1"/>
    <dgm:cxn modelId="{098A2278-9565-4070-89CD-60BED836820C}" type="presParOf" srcId="{C74BC07E-77C1-4B4E-BD70-02B60C01BDA9}" destId="{F564ECF5-AB47-4E15-8CEB-B44B9BA05818}" srcOrd="0" destOrd="0" presId="urn:microsoft.com/office/officeart/2005/8/layout/hierarchy1"/>
    <dgm:cxn modelId="{C3DFA1F6-F223-402F-9820-4FFDCD48B1E5}" type="presParOf" srcId="{C74BC07E-77C1-4B4E-BD70-02B60C01BDA9}" destId="{ACC91B66-4D30-462E-BAFE-A374ECA3CAF5}" srcOrd="1" destOrd="0" presId="urn:microsoft.com/office/officeart/2005/8/layout/hierarchy1"/>
    <dgm:cxn modelId="{B47D4C3B-9AE0-4AD8-B403-F472D0E9B89E}" type="presParOf" srcId="{C43CDD37-CA90-460E-80B9-2ED459EBF9D2}" destId="{AB44C90C-0963-4A91-8520-C3B8A6CB8F4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A7C173-7FB4-4C37-AB32-BEA3E272EF90}">
      <dsp:nvSpPr>
        <dsp:cNvPr id="0" name=""/>
        <dsp:cNvSpPr/>
      </dsp:nvSpPr>
      <dsp:spPr>
        <a:xfrm>
          <a:off x="5318200" y="3223569"/>
          <a:ext cx="91440" cy="3765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655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D837C3-F89A-4B32-A505-7E8462BFC420}">
      <dsp:nvSpPr>
        <dsp:cNvPr id="0" name=""/>
        <dsp:cNvSpPr/>
      </dsp:nvSpPr>
      <dsp:spPr>
        <a:xfrm>
          <a:off x="5318200" y="2024865"/>
          <a:ext cx="91440" cy="3765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6550"/>
              </a:lnTo>
            </a:path>
          </a:pathLst>
        </a:custGeom>
        <a:noFill/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D33186-8EBD-404B-B86D-92EC55D05F20}">
      <dsp:nvSpPr>
        <dsp:cNvPr id="0" name=""/>
        <dsp:cNvSpPr/>
      </dsp:nvSpPr>
      <dsp:spPr>
        <a:xfrm>
          <a:off x="5318200" y="826160"/>
          <a:ext cx="91440" cy="37655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76550"/>
              </a:lnTo>
            </a:path>
          </a:pathLst>
        </a:custGeom>
        <a:noFill/>
        <a:ln w="19050" cap="flat" cmpd="sng" algn="ctr">
          <a:solidFill>
            <a:schemeClr val="dk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6FDF31-9511-4A2B-803D-F4CA2E566168}">
      <dsp:nvSpPr>
        <dsp:cNvPr id="0" name=""/>
        <dsp:cNvSpPr/>
      </dsp:nvSpPr>
      <dsp:spPr>
        <a:xfrm>
          <a:off x="4716555" y="4006"/>
          <a:ext cx="1294730" cy="8221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D59AB8-B34E-4EFF-9580-1E18E67C35E0}">
      <dsp:nvSpPr>
        <dsp:cNvPr id="0" name=""/>
        <dsp:cNvSpPr/>
      </dsp:nvSpPr>
      <dsp:spPr>
        <a:xfrm>
          <a:off x="4860414" y="140672"/>
          <a:ext cx="1294730" cy="82215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latin typeface="Aptos Display" panose="02110004020202020204"/>
            </a:rPr>
            <a:t>Justin Bour ($3.4M)</a:t>
          </a:r>
          <a:endParaRPr lang="en-US" sz="1500" kern="1200"/>
        </a:p>
      </dsp:txBody>
      <dsp:txXfrm>
        <a:off x="4884494" y="164752"/>
        <a:ext cx="1246570" cy="773993"/>
      </dsp:txXfrm>
    </dsp:sp>
    <dsp:sp modelId="{7F0A998D-8490-4CD4-8B8A-58096359B10A}">
      <dsp:nvSpPr>
        <dsp:cNvPr id="0" name=""/>
        <dsp:cNvSpPr/>
      </dsp:nvSpPr>
      <dsp:spPr>
        <a:xfrm>
          <a:off x="4716555" y="1202711"/>
          <a:ext cx="1294730" cy="8221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26872-5C34-437E-8A1D-50AD5253816E}">
      <dsp:nvSpPr>
        <dsp:cNvPr id="0" name=""/>
        <dsp:cNvSpPr/>
      </dsp:nvSpPr>
      <dsp:spPr>
        <a:xfrm>
          <a:off x="4860414" y="1339377"/>
          <a:ext cx="1294730" cy="82215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 panose="02110004020202020204"/>
            </a:rPr>
            <a:t>Jeimer Candelario ($2.85M)</a:t>
          </a:r>
        </a:p>
      </dsp:txBody>
      <dsp:txXfrm>
        <a:off x="4884494" y="1363457"/>
        <a:ext cx="1246570" cy="773993"/>
      </dsp:txXfrm>
    </dsp:sp>
    <dsp:sp modelId="{46AE696C-59B3-4439-BBEE-2328FF554DB1}">
      <dsp:nvSpPr>
        <dsp:cNvPr id="0" name=""/>
        <dsp:cNvSpPr/>
      </dsp:nvSpPr>
      <dsp:spPr>
        <a:xfrm>
          <a:off x="4716555" y="2401415"/>
          <a:ext cx="1294730" cy="8221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DCFBA-F00B-47C5-ADAA-AA3569056087}">
      <dsp:nvSpPr>
        <dsp:cNvPr id="0" name=""/>
        <dsp:cNvSpPr/>
      </dsp:nvSpPr>
      <dsp:spPr>
        <a:xfrm>
          <a:off x="4860414" y="2538081"/>
          <a:ext cx="1294730" cy="82215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 panose="02110004020202020204"/>
            </a:rPr>
            <a:t>Isaac Paredes (?)</a:t>
          </a:r>
        </a:p>
      </dsp:txBody>
      <dsp:txXfrm>
        <a:off x="4884494" y="2562161"/>
        <a:ext cx="1246570" cy="773993"/>
      </dsp:txXfrm>
    </dsp:sp>
    <dsp:sp modelId="{F564ECF5-AB47-4E15-8CEB-B44B9BA05818}">
      <dsp:nvSpPr>
        <dsp:cNvPr id="0" name=""/>
        <dsp:cNvSpPr/>
      </dsp:nvSpPr>
      <dsp:spPr>
        <a:xfrm>
          <a:off x="4716555" y="3600120"/>
          <a:ext cx="1294730" cy="8221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C91B66-4D30-462E-BAFE-A374ECA3CAF5}">
      <dsp:nvSpPr>
        <dsp:cNvPr id="0" name=""/>
        <dsp:cNvSpPr/>
      </dsp:nvSpPr>
      <dsp:spPr>
        <a:xfrm>
          <a:off x="4860414" y="3736786"/>
          <a:ext cx="1294730" cy="822153"/>
        </a:xfrm>
        <a:prstGeom prst="roundRect">
          <a:avLst>
            <a:gd name="adj" fmla="val 10000"/>
          </a:avLst>
        </a:prstGeom>
        <a:solidFill>
          <a:schemeClr val="dk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>
              <a:latin typeface="Aptos Display" panose="02110004020202020204"/>
            </a:rPr>
            <a:t>Yandy Diaz ($2.8M)</a:t>
          </a:r>
        </a:p>
      </dsp:txBody>
      <dsp:txXfrm>
        <a:off x="4884494" y="3760866"/>
        <a:ext cx="1246570" cy="773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832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2937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71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568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28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33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20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97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3134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028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0365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56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1AFF5-E316-EAE7-0CCA-8C89AA7AB4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Club-Sided Comp Market 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06EC0F-C187-3935-AE4E-7622FD8898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</a:t>
            </a:r>
            <a:r>
              <a:rPr lang="en-US" dirty="0"/>
              <a:t>:</a:t>
            </a:r>
            <a:r>
              <a:rPr lang="en-US"/>
              <a:t> Thomas Hesse</a:t>
            </a:r>
            <a:r>
              <a:rPr lang="en-US" dirty="0"/>
              <a:t>, Carter Bleil, Hailey Davis, Charlie Besler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0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F6389-D986-BE0F-BBA4-87C1D0086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Arbitration Payments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F56B6-A206-894D-4352-7AE67C05F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Goal Number: </a:t>
            </a:r>
            <a:r>
              <a:rPr lang="en-US">
                <a:highlight>
                  <a:srgbClr val="FFFF00"/>
                </a:highlight>
              </a:rPr>
              <a:t>$3.4M</a:t>
            </a:r>
          </a:p>
          <a:p>
            <a:pPr marL="514350" indent="-514350">
              <a:buAutoNum type="arabicPeriod"/>
            </a:pPr>
            <a:r>
              <a:rPr lang="en-US"/>
              <a:t>Justin Bour= $3.4M</a:t>
            </a:r>
          </a:p>
          <a:p>
            <a:pPr marL="514350" indent="-514350">
              <a:buAutoNum type="arabicPeriod"/>
            </a:pPr>
            <a:r>
              <a:rPr lang="en-US" err="1"/>
              <a:t>Jeimer</a:t>
            </a:r>
            <a:r>
              <a:rPr lang="en-US"/>
              <a:t> Candelario= $2.85M</a:t>
            </a:r>
          </a:p>
          <a:p>
            <a:pPr marL="514350" indent="-514350">
              <a:buAutoNum type="arabicPeriod"/>
            </a:pPr>
            <a:r>
              <a:rPr lang="en-US"/>
              <a:t>Yandy Diaz= $2.8M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8B5FC39B-034C-685F-3151-A7F1E7CFD88E}"/>
              </a:ext>
            </a:extLst>
          </p:cNvPr>
          <p:cNvSpPr/>
          <p:nvPr/>
        </p:nvSpPr>
        <p:spPr>
          <a:xfrm>
            <a:off x="4196543" y="1862812"/>
            <a:ext cx="210785" cy="310019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B30C5-221C-6CF8-A6AD-F0B27313E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AB0CC80D-C650-F4BC-0221-AA0C97FE6BB8}"/>
              </a:ext>
            </a:extLst>
          </p:cNvPr>
          <p:cNvSpPr/>
          <p:nvPr/>
        </p:nvSpPr>
        <p:spPr>
          <a:xfrm>
            <a:off x="117479" y="1340621"/>
            <a:ext cx="3790830" cy="4164594"/>
          </a:xfrm>
          <a:prstGeom prst="ellips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7FADB6-1AAB-CCBA-61FF-1CE72CCFD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16"/>
            <a:ext cx="10515600" cy="1307420"/>
          </a:xfrm>
        </p:spPr>
        <p:txBody>
          <a:bodyPr/>
          <a:lstStyle/>
          <a:p>
            <a:pPr algn="ctr"/>
            <a:r>
              <a:rPr lang="en-US" b="1" dirty="0"/>
              <a:t>Isaac Paredes vs Justin Bour ($3.4M)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C61BC-8CF4-35C9-5716-0E9E1DBA0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850"/>
            <a:ext cx="4948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Isaac Paredes</a:t>
            </a:r>
          </a:p>
          <a:p>
            <a:pPr marL="0" indent="0">
              <a:buNone/>
            </a:pPr>
            <a:r>
              <a:rPr lang="en-US"/>
              <a:t>Career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OPS= .738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IL= 47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WRC+= 106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FWAR= 5.9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8A1DF90-9CE5-FF7F-0C49-ACEA01D1F207}"/>
              </a:ext>
            </a:extLst>
          </p:cNvPr>
          <p:cNvSpPr txBox="1">
            <a:spLocks/>
          </p:cNvSpPr>
          <p:nvPr/>
        </p:nvSpPr>
        <p:spPr>
          <a:xfrm>
            <a:off x="6394580" y="1814739"/>
            <a:ext cx="494833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Justin Bour</a:t>
            </a:r>
          </a:p>
          <a:p>
            <a:pPr marL="0" indent="0">
              <a:buNone/>
            </a:pPr>
            <a:r>
              <a:rPr lang="en-US"/>
              <a:t>Career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OPS= .836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IL= 121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WRC+= 121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FWAR= 4.2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1B6C4A06-E6BE-39AB-65A8-E2A5DC5EC80E}"/>
              </a:ext>
            </a:extLst>
          </p:cNvPr>
          <p:cNvSpPr/>
          <p:nvPr/>
        </p:nvSpPr>
        <p:spPr>
          <a:xfrm>
            <a:off x="4175988" y="3252857"/>
            <a:ext cx="1342930" cy="34704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812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44992-F3F6-0336-FE2E-DD1E5BC9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898F823-5F62-CC02-6EC6-3538644B0116}"/>
              </a:ext>
            </a:extLst>
          </p:cNvPr>
          <p:cNvSpPr/>
          <p:nvPr/>
        </p:nvSpPr>
        <p:spPr>
          <a:xfrm>
            <a:off x="117479" y="1340621"/>
            <a:ext cx="3790830" cy="4164594"/>
          </a:xfrm>
          <a:prstGeom prst="ellips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6B2083-9E91-45AF-3885-E17BE870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21"/>
            <a:ext cx="10515600" cy="1204610"/>
          </a:xfrm>
        </p:spPr>
        <p:txBody>
          <a:bodyPr/>
          <a:lstStyle/>
          <a:p>
            <a:pPr algn="ctr"/>
            <a:r>
              <a:rPr lang="en-US" b="1" dirty="0"/>
              <a:t>Isaac Paredes vs Justin Bour ($3.4M)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F6A6E-2591-CF8D-7BFA-FE5D7F04C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850"/>
            <a:ext cx="4948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Isaac Paredes</a:t>
            </a:r>
          </a:p>
          <a:p>
            <a:pPr marL="0" indent="0">
              <a:buNone/>
            </a:pPr>
            <a:r>
              <a:rPr lang="en-US"/>
              <a:t>Platform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OPS= .840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IL= 0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WRC+= 136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FWAR= 4.3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FFC5A1-586C-392B-D367-6EC7AEF2B138}"/>
              </a:ext>
            </a:extLst>
          </p:cNvPr>
          <p:cNvSpPr txBox="1">
            <a:spLocks/>
          </p:cNvSpPr>
          <p:nvPr/>
        </p:nvSpPr>
        <p:spPr>
          <a:xfrm>
            <a:off x="6394580" y="1814739"/>
            <a:ext cx="494833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Justin Bour</a:t>
            </a:r>
          </a:p>
          <a:p>
            <a:pPr marL="0" indent="0">
              <a:buNone/>
            </a:pPr>
            <a:r>
              <a:rPr lang="en-US"/>
              <a:t>Platform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OPS= .901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IL= 56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WRC+= 138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FWAR= 2.4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29DB1F30-8A6D-C8CA-BD6B-D29B1199C66E}"/>
              </a:ext>
            </a:extLst>
          </p:cNvPr>
          <p:cNvSpPr/>
          <p:nvPr/>
        </p:nvSpPr>
        <p:spPr>
          <a:xfrm>
            <a:off x="4175988" y="3252857"/>
            <a:ext cx="1342930" cy="34704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51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7B955-CDF7-4EB9-D45A-3C68A076E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D9E467FA-B5EE-D4B1-6D26-7BCE33C01EE8}"/>
              </a:ext>
            </a:extLst>
          </p:cNvPr>
          <p:cNvSpPr/>
          <p:nvPr/>
        </p:nvSpPr>
        <p:spPr>
          <a:xfrm>
            <a:off x="5785826" y="1340621"/>
            <a:ext cx="3790830" cy="4164594"/>
          </a:xfrm>
          <a:prstGeom prst="ellips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8B7EFB-65E5-2CFE-2355-33DB2A0E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/>
              <a:t>Isaac Paredes vs </a:t>
            </a:r>
            <a:r>
              <a:rPr lang="en-US" sz="4000" b="1" err="1"/>
              <a:t>Jeimer</a:t>
            </a:r>
            <a:r>
              <a:rPr lang="en-US" sz="4000" b="1" dirty="0"/>
              <a:t> Candelario ($2.85M)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F647A-82F6-3D9F-973C-342AB260D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850"/>
            <a:ext cx="4948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Isaac Paredes</a:t>
            </a:r>
          </a:p>
          <a:p>
            <a:pPr marL="0" indent="0">
              <a:buNone/>
            </a:pPr>
            <a:r>
              <a:rPr lang="en-US"/>
              <a:t>Career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OPS= .738</a:t>
            </a:r>
          </a:p>
          <a:p>
            <a:pPr marL="457200" indent="-457200"/>
            <a:r>
              <a:rPr lang="en-US">
                <a:highlight>
                  <a:srgbClr val="FFFF00"/>
                </a:highlight>
              </a:rPr>
              <a:t>IL= 47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WRC+= 106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FWAR= 5.9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66EC61B-E74F-44A9-D0FF-AF1B3B275DD5}"/>
              </a:ext>
            </a:extLst>
          </p:cNvPr>
          <p:cNvSpPr txBox="1">
            <a:spLocks/>
          </p:cNvSpPr>
          <p:nvPr/>
        </p:nvSpPr>
        <p:spPr>
          <a:xfrm>
            <a:off x="6394580" y="1814739"/>
            <a:ext cx="494833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err="1"/>
              <a:t>Jeimer</a:t>
            </a:r>
            <a:r>
              <a:rPr lang="en-US"/>
              <a:t> Candelario</a:t>
            </a:r>
          </a:p>
          <a:p>
            <a:pPr marL="0" indent="0">
              <a:buNone/>
            </a:pPr>
            <a:r>
              <a:rPr lang="en-US"/>
              <a:t>Career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OPS= .750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IL= 46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WRC+= 102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FWAR= 7.6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93E4C257-5307-DEC5-0DB6-674F5DA39E38}"/>
              </a:ext>
            </a:extLst>
          </p:cNvPr>
          <p:cNvSpPr/>
          <p:nvPr/>
        </p:nvSpPr>
        <p:spPr>
          <a:xfrm>
            <a:off x="4175988" y="3252857"/>
            <a:ext cx="1342930" cy="34704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29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2C880-735E-7592-7D85-3FD2601FC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0EE7E2DF-B312-A01F-D9D3-A86BBFC09E6A}"/>
              </a:ext>
            </a:extLst>
          </p:cNvPr>
          <p:cNvSpPr/>
          <p:nvPr/>
        </p:nvSpPr>
        <p:spPr>
          <a:xfrm>
            <a:off x="5785826" y="1340621"/>
            <a:ext cx="3790830" cy="4164594"/>
          </a:xfrm>
          <a:prstGeom prst="ellips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F14080-DC2A-FD6D-8FE2-53A097AE1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0802"/>
          </a:xfrm>
        </p:spPr>
        <p:txBody>
          <a:bodyPr/>
          <a:lstStyle/>
          <a:p>
            <a:pPr algn="ctr"/>
            <a:r>
              <a:rPr lang="en-US" sz="4000" b="1" dirty="0"/>
              <a:t>Isaac Paredes vs </a:t>
            </a:r>
            <a:r>
              <a:rPr lang="en-US" sz="4000" b="1" err="1"/>
              <a:t>Jeimer</a:t>
            </a:r>
            <a:r>
              <a:rPr lang="en-US" sz="4000" b="1" dirty="0"/>
              <a:t> Candelario ($2.85M)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9DF02-5F87-BB38-E75F-71B237C9B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850"/>
            <a:ext cx="4948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Isaac Paredes</a:t>
            </a:r>
          </a:p>
          <a:p>
            <a:pPr marL="0" indent="0">
              <a:buNone/>
            </a:pPr>
            <a:r>
              <a:rPr lang="en-US"/>
              <a:t>Platform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OPS= .840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IL= 0</a:t>
            </a:r>
          </a:p>
          <a:p>
            <a:pPr marL="457200" indent="-457200"/>
            <a:r>
              <a:rPr lang="en-US">
                <a:highlight>
                  <a:srgbClr val="FFFF00"/>
                </a:highlight>
              </a:rPr>
              <a:t>WRC+= 136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FWAR= 4.3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E3E662-507F-DB31-CE18-8DD577AF2BBE}"/>
              </a:ext>
            </a:extLst>
          </p:cNvPr>
          <p:cNvSpPr txBox="1">
            <a:spLocks/>
          </p:cNvSpPr>
          <p:nvPr/>
        </p:nvSpPr>
        <p:spPr>
          <a:xfrm>
            <a:off x="6394580" y="1814739"/>
            <a:ext cx="494833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err="1"/>
              <a:t>Jeimer</a:t>
            </a:r>
            <a:r>
              <a:rPr lang="en-US"/>
              <a:t> Candelario</a:t>
            </a:r>
          </a:p>
          <a:p>
            <a:pPr marL="0" indent="0">
              <a:buNone/>
            </a:pPr>
            <a:r>
              <a:rPr lang="en-US"/>
              <a:t>Platform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OPS= .872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IL= 3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FF00"/>
                </a:highlight>
              </a:rPr>
              <a:t>WRC+= 135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FWAR= 5.0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A34B8F25-2435-54C0-8B4D-6A96EF2BF803}"/>
              </a:ext>
            </a:extLst>
          </p:cNvPr>
          <p:cNvSpPr/>
          <p:nvPr/>
        </p:nvSpPr>
        <p:spPr>
          <a:xfrm>
            <a:off x="4175988" y="3252857"/>
            <a:ext cx="1342930" cy="34704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69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EC3CB-4591-3F45-CD43-DFC59D95E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E7AC1C99-038E-EC60-1319-9916641351F8}"/>
              </a:ext>
            </a:extLst>
          </p:cNvPr>
          <p:cNvSpPr/>
          <p:nvPr/>
        </p:nvSpPr>
        <p:spPr>
          <a:xfrm>
            <a:off x="5785826" y="1340621"/>
            <a:ext cx="3790830" cy="4164594"/>
          </a:xfrm>
          <a:prstGeom prst="ellips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E2050-C3BB-6AE4-7E99-40B417F45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81278"/>
          </a:xfrm>
        </p:spPr>
        <p:txBody>
          <a:bodyPr/>
          <a:lstStyle/>
          <a:p>
            <a:pPr algn="ctr"/>
            <a:r>
              <a:rPr lang="en-US" b="1" dirty="0"/>
              <a:t>Isaac Paredes vs Yandy Diaz ($2.8M)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F5B6E-9C41-7E56-5E9E-633179DE7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850"/>
            <a:ext cx="4948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Isaac Paredes</a:t>
            </a:r>
          </a:p>
          <a:p>
            <a:pPr marL="0" indent="0">
              <a:buNone/>
            </a:pPr>
            <a:r>
              <a:rPr lang="en-US"/>
              <a:t>Career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OPS= .738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IL= 47</a:t>
            </a:r>
          </a:p>
          <a:p>
            <a:pPr marL="457200" indent="-457200"/>
            <a:r>
              <a:rPr lang="en-US">
                <a:highlight>
                  <a:srgbClr val="FF0000"/>
                </a:highlight>
              </a:rPr>
              <a:t>WRC+= 106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FWAR= 5.9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F761200-008B-06A7-CB4A-962108035E76}"/>
              </a:ext>
            </a:extLst>
          </p:cNvPr>
          <p:cNvSpPr txBox="1">
            <a:spLocks/>
          </p:cNvSpPr>
          <p:nvPr/>
        </p:nvSpPr>
        <p:spPr>
          <a:xfrm>
            <a:off x="6394580" y="1814739"/>
            <a:ext cx="494833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Yandy Diaz</a:t>
            </a:r>
          </a:p>
          <a:p>
            <a:pPr marL="0" indent="0">
              <a:buNone/>
            </a:pPr>
            <a:r>
              <a:rPr lang="en-US"/>
              <a:t>Career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OPS= .772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IL= 118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00FF00"/>
                </a:highlight>
              </a:rPr>
              <a:t>WRC+= 113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FWAR= 5.6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EF9454DB-4DBE-8FE6-A6E3-2ACE11EDB2AE}"/>
              </a:ext>
            </a:extLst>
          </p:cNvPr>
          <p:cNvSpPr/>
          <p:nvPr/>
        </p:nvSpPr>
        <p:spPr>
          <a:xfrm>
            <a:off x="4175988" y="3252857"/>
            <a:ext cx="1342930" cy="34704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26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1603-00F7-9513-D4A5-9B03B6A6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3061C083-16FA-067B-6DB3-B33686849DF4}"/>
              </a:ext>
            </a:extLst>
          </p:cNvPr>
          <p:cNvSpPr/>
          <p:nvPr/>
        </p:nvSpPr>
        <p:spPr>
          <a:xfrm>
            <a:off x="117479" y="1340621"/>
            <a:ext cx="3790830" cy="4164594"/>
          </a:xfrm>
          <a:prstGeom prst="ellipse">
            <a:avLst/>
          </a:prstGeom>
          <a:ln w="28575"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7483F-02BB-9489-6C5D-05254C469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984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Isaac Paredes vs Yandy Diaz ($2.8M)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36C18B-8D63-2BE1-B2C6-F5718F941A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850"/>
            <a:ext cx="494833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Isaac Paredes</a:t>
            </a:r>
          </a:p>
          <a:p>
            <a:pPr marL="0" indent="0">
              <a:buNone/>
            </a:pPr>
            <a:r>
              <a:rPr lang="en-US"/>
              <a:t>Platform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OPS= .840</a:t>
            </a:r>
          </a:p>
          <a:p>
            <a:pPr marL="457200" indent="-457200"/>
            <a:r>
              <a:rPr lang="en-US">
                <a:highlight>
                  <a:srgbClr val="FFFF00"/>
                </a:highlight>
              </a:rPr>
              <a:t>IL= 0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WRC+= 136</a:t>
            </a:r>
          </a:p>
          <a:p>
            <a:pPr marL="457200" indent="-457200"/>
            <a:r>
              <a:rPr lang="en-US">
                <a:highlight>
                  <a:srgbClr val="00FF00"/>
                </a:highlight>
              </a:rPr>
              <a:t>FWAR= 4.3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29811B1-B357-6A7E-C6FA-6BEB5459B66E}"/>
              </a:ext>
            </a:extLst>
          </p:cNvPr>
          <p:cNvSpPr txBox="1">
            <a:spLocks/>
          </p:cNvSpPr>
          <p:nvPr/>
        </p:nvSpPr>
        <p:spPr>
          <a:xfrm>
            <a:off x="6394580" y="1814739"/>
            <a:ext cx="4948335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Yandy Diaz</a:t>
            </a:r>
          </a:p>
          <a:p>
            <a:pPr marL="0" indent="0">
              <a:buNone/>
            </a:pPr>
            <a:r>
              <a:rPr lang="en-US"/>
              <a:t>Platform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OPS= .740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highlight>
                  <a:srgbClr val="FFFF00"/>
                </a:highlight>
              </a:rPr>
              <a:t>IL= 0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highlight>
                  <a:srgbClr val="FF0000"/>
                </a:highlight>
              </a:rPr>
              <a:t>WRC+= 109</a:t>
            </a:r>
          </a:p>
          <a:p>
            <a:pPr marL="457200" indent="-457200"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highlight>
                  <a:srgbClr val="FF0000"/>
                </a:highlight>
              </a:rPr>
              <a:t>FWAR= 1.7</a:t>
            </a:r>
          </a:p>
        </p:txBody>
      </p:sp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3E384127-F605-6228-3CCA-1FEB3E2ABA59}"/>
              </a:ext>
            </a:extLst>
          </p:cNvPr>
          <p:cNvSpPr/>
          <p:nvPr/>
        </p:nvSpPr>
        <p:spPr>
          <a:xfrm>
            <a:off x="4175988" y="3252857"/>
            <a:ext cx="1342930" cy="347049"/>
          </a:xfrm>
          <a:prstGeom prst="left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011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1033-6C94-0F9B-0010-558D5D570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Analyzation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89FDE-A02A-AF2A-831F-B869C7975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4867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/>
              <a:t>Justin Bour was paid more for being a first baseman, with similar offensive production as Paredes.</a:t>
            </a:r>
          </a:p>
          <a:p>
            <a:r>
              <a:rPr lang="en-US" dirty="0" err="1"/>
              <a:t>Jeimer</a:t>
            </a:r>
            <a:r>
              <a:rPr lang="en-US" dirty="0"/>
              <a:t> Candelario was paid only $2.85M for better production in both his career and platform years.</a:t>
            </a:r>
          </a:p>
          <a:p>
            <a:r>
              <a:rPr lang="en-US" dirty="0"/>
              <a:t>Yandy Diaz and Isaac Paredes are close to identical with production, Yandy having the better career so far.</a:t>
            </a:r>
          </a:p>
          <a:p>
            <a:r>
              <a:rPr lang="en-US" dirty="0"/>
              <a:t>Isaac Paredes's platform year is his strongpoint that is going to carry his </a:t>
            </a:r>
            <a:r>
              <a:rPr lang="en-US"/>
              <a:t>arbitration.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F12867D-A052-2430-D196-52C2BE6C0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9754404"/>
              </p:ext>
            </p:extLst>
          </p:nvPr>
        </p:nvGraphicFramePr>
        <p:xfrm>
          <a:off x="4866239" y="1411586"/>
          <a:ext cx="10871700" cy="45629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90" name="Arrow: Right 989">
            <a:extLst>
              <a:ext uri="{FF2B5EF4-FFF2-40B4-BE49-F238E27FC236}">
                <a16:creationId xmlns:a16="http://schemas.microsoft.com/office/drawing/2014/main" id="{9145BA2F-09C8-6ECC-F030-8123AD1CFBC7}"/>
              </a:ext>
            </a:extLst>
          </p:cNvPr>
          <p:cNvSpPr/>
          <p:nvPr/>
        </p:nvSpPr>
        <p:spPr>
          <a:xfrm>
            <a:off x="8646059" y="3998612"/>
            <a:ext cx="769544" cy="286693"/>
          </a:xfrm>
          <a:prstGeom prst="rightArrow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1" name="Arrow: Down 990">
            <a:extLst>
              <a:ext uri="{FF2B5EF4-FFF2-40B4-BE49-F238E27FC236}">
                <a16:creationId xmlns:a16="http://schemas.microsoft.com/office/drawing/2014/main" id="{ACBBC66D-D978-63A9-16CD-22C4FAEF4E37}"/>
              </a:ext>
            </a:extLst>
          </p:cNvPr>
          <p:cNvSpPr/>
          <p:nvPr/>
        </p:nvSpPr>
        <p:spPr>
          <a:xfrm>
            <a:off x="9204355" y="1403287"/>
            <a:ext cx="211247" cy="23161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4" name="TextBox 993">
            <a:extLst>
              <a:ext uri="{FF2B5EF4-FFF2-40B4-BE49-F238E27FC236}">
                <a16:creationId xmlns:a16="http://schemas.microsoft.com/office/drawing/2014/main" id="{D847AA03-F4BD-A8A2-CDE4-8D55D5CCB222}"/>
              </a:ext>
            </a:extLst>
          </p:cNvPr>
          <p:cNvSpPr txBox="1"/>
          <p:nvPr/>
        </p:nvSpPr>
        <p:spPr>
          <a:xfrm rot="16200000">
            <a:off x="7909463" y="1964663"/>
            <a:ext cx="24259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Less Productive</a:t>
            </a:r>
          </a:p>
        </p:txBody>
      </p:sp>
      <p:sp>
        <p:nvSpPr>
          <p:cNvPr id="995" name="TextBox 994">
            <a:extLst>
              <a:ext uri="{FF2B5EF4-FFF2-40B4-BE49-F238E27FC236}">
                <a16:creationId xmlns:a16="http://schemas.microsoft.com/office/drawing/2014/main" id="{06996C5B-202E-18D1-7E6D-966A3705CEBD}"/>
              </a:ext>
            </a:extLst>
          </p:cNvPr>
          <p:cNvSpPr txBox="1"/>
          <p:nvPr/>
        </p:nvSpPr>
        <p:spPr>
          <a:xfrm rot="16200000">
            <a:off x="7909462" y="5238999"/>
            <a:ext cx="242595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More Productive</a:t>
            </a:r>
          </a:p>
        </p:txBody>
      </p:sp>
      <p:sp>
        <p:nvSpPr>
          <p:cNvPr id="1008" name="Arrow: Down 1007">
            <a:extLst>
              <a:ext uri="{FF2B5EF4-FFF2-40B4-BE49-F238E27FC236}">
                <a16:creationId xmlns:a16="http://schemas.microsoft.com/office/drawing/2014/main" id="{2C5B532B-E47C-0E58-EB94-BB7CB170692D}"/>
              </a:ext>
            </a:extLst>
          </p:cNvPr>
          <p:cNvSpPr/>
          <p:nvPr/>
        </p:nvSpPr>
        <p:spPr>
          <a:xfrm rot="10800000">
            <a:off x="9204355" y="4541821"/>
            <a:ext cx="211247" cy="231617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82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6394D-BE73-EDBB-B27F-9E358F6E1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485C-EA1E-FE29-D90F-A2667FD7C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Major League Service (MLS)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21B29-D926-F5BE-84D0-4BE16F5B1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(Super two Player)</a:t>
            </a:r>
          </a:p>
        </p:txBody>
      </p:sp>
    </p:spTree>
    <p:extLst>
      <p:ext uri="{BB962C8B-B14F-4D97-AF65-F5344CB8AC3E}">
        <p14:creationId xmlns:p14="http://schemas.microsoft.com/office/powerpoint/2010/main" val="30650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Club-Sided Comp Market  </vt:lpstr>
      <vt:lpstr>Arbitration Payments</vt:lpstr>
      <vt:lpstr>Isaac Paredes vs Justin Bour ($3.4M)</vt:lpstr>
      <vt:lpstr>Isaac Paredes vs Justin Bour ($3.4M)</vt:lpstr>
      <vt:lpstr>Isaac Paredes vs Jeimer Candelario ($2.85M)</vt:lpstr>
      <vt:lpstr>Isaac Paredes vs Jeimer Candelario ($2.85M)</vt:lpstr>
      <vt:lpstr>Isaac Paredes vs Yandy Diaz ($2.8M)</vt:lpstr>
      <vt:lpstr>Isaac Paredes vs Yandy Diaz ($2.8M)</vt:lpstr>
      <vt:lpstr>Analyzation</vt:lpstr>
      <vt:lpstr>Major League Service (MLS)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Hesse</dc:creator>
  <cp:lastModifiedBy>Thomas Hesse</cp:lastModifiedBy>
  <cp:revision>125</cp:revision>
  <dcterms:created xsi:type="dcterms:W3CDTF">2026-02-19T16:20:22Z</dcterms:created>
  <dcterms:modified xsi:type="dcterms:W3CDTF">2026-02-22T22:46:23Z</dcterms:modified>
</cp:coreProperties>
</file>